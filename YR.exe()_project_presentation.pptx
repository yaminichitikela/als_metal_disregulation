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E45DEF-56A7-477C-8B8F-634420A46B1A}">
  <a:tblStyle styleId="{8FE45DEF-56A7-477C-8B8F-634420A46B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353089f70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353089f70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353089f70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353089f70_2_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d353089f70_2_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353089f70_2_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353089f70_2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d353089f70_2_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353089f70_2_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353089f70_2_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d353089f70_2_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353089f70_2_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353089f70_2_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353089f70_2_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353089f70_2_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353089f70_2_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353089f70_2_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353089f70_2_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53089f70_2_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d353089f70_2_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353089f70_2_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353089f70_2_1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353089f70_2_1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353089f70_2_1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353089f70_2_1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d353089f70_2_1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353089f70_2_1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353089f70_2_1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353089f70_2_1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353089f70_2_1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s://www.frontiersin.org/journals/neuroscience/articles/10.3389/fnins.2018.01031/full#:~:text=Amyotrophic%20lateral%20sclerosis%20,of%20cases%29.%20Genetic" TargetMode="External"/><Relationship Id="rId5" Type="http://schemas.openxmlformats.org/officeDocument/2006/relationships/hyperlink" Target="https://www.frontiersin.org/journals/neuroscience/articles/10.3389/fnins.2018.01031/full#:~:text=Amyotrophic%20lateral%20sclerosis%20,appears%20complicated%20to%20suggest%20a" TargetMode="External"/><Relationship Id="rId6" Type="http://schemas.openxmlformats.org/officeDocument/2006/relationships/hyperlink" Target="https://www.frontiersin.org/journals/pharmacology/articles/10.3389/fphar.2014.00191/full#:~:text=Synchrotron%20access%20is%20necessarily%20limited%2C,role%20in%20various%20neurodegenerative%20disease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ohsu.edu/sites/default/files/2019-08/Iron%20Deficiency.pdf#:~:text=protein%20it%20cannot%20bind%20to,resultant%20decreased%20TfR%20protein%20production" TargetMode="External"/><Relationship Id="rId4" Type="http://schemas.openxmlformats.org/officeDocument/2006/relationships/hyperlink" Target="https://www.nature.com/articles/292267a0#:~:text=Metallothioneins%20are%20small%20cysteine,genes%20stems%20largely%20from%20the" TargetMode="External"/><Relationship Id="rId9" Type="http://schemas.openxmlformats.org/officeDocument/2006/relationships/hyperlink" Target="https://pmc.ncbi.nlm.nih.gov/articles/PMC3829365/#:~:text=Results%3A%20DJ,induced%20cytotoxicity" TargetMode="External"/><Relationship Id="rId5" Type="http://schemas.openxmlformats.org/officeDocument/2006/relationships/hyperlink" Target="https://pmc.ncbi.nlm.nih.gov/articles/PMC9519421/#:~:text=Cu%2FZn,23%2C7" TargetMode="External"/><Relationship Id="rId6" Type="http://schemas.openxmlformats.org/officeDocument/2006/relationships/hyperlink" Target="http://medlineplus.gov/download/genetics/gene/slc30a10.pdf#:~:text=The%20SLC30A10%20gene%20provides%20instructions,be%20removed%20from%20the%20body" TargetMode="External"/><Relationship Id="rId7" Type="http://schemas.openxmlformats.org/officeDocument/2006/relationships/hyperlink" Target="https://medlineplus.gov/genetics/gene/slc39a14/#:~:text=The%20SLC39A14%20gene%20provides%20instructions,the%20removal%20of%20waste%20products" TargetMode="External"/><Relationship Id="rId8" Type="http://schemas.openxmlformats.org/officeDocument/2006/relationships/hyperlink" Target="https://pmc.ncbi.nlm.nih.gov/articles/PMC10178982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hyperlink" Target="https://www.ncbi.nlm.nih.gov/geo/query/acc.cgi#:~:text=Scope%3A%20Self%20Platform%20Samples%20Series,profiling%20by%20high%20throughput%20sequencing" TargetMode="Externa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pmc.ncbi.nlm.nih.gov/articles/PMC3829365/#:~:text=Results%3A%20DJ,induced%20cytotoxicity" TargetMode="External"/><Relationship Id="rId10" Type="http://schemas.openxmlformats.org/officeDocument/2006/relationships/hyperlink" Target="https://pmc.ncbi.nlm.nih.gov/articles/PMC9519421/#:~:text=Cu%2FZn,23%2C7" TargetMode="External"/><Relationship Id="rId13" Type="http://schemas.openxmlformats.org/officeDocument/2006/relationships/hyperlink" Target="https://pmc.ncbi.nlm.nih.gov/articles/PMC10178982/" TargetMode="External"/><Relationship Id="rId12" Type="http://schemas.openxmlformats.org/officeDocument/2006/relationships/hyperlink" Target="https://pmc.ncbi.nlm.nih.gov/articles/PMC3829365/#:~:text=In%20a%20previous%20study%2C%20we,are%20underlying%20factors%20for%20PD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nature.com/articles/s12276-024-01300-4#:~:text=Ferritin%2C%20comprising%20heavy%20,target%20for%20PDAC%20therapy%20development" TargetMode="External"/><Relationship Id="rId4" Type="http://schemas.openxmlformats.org/officeDocument/2006/relationships/hyperlink" Target="http://www.ohsu.edu/sites/default/files/2019-08/Iron%20Deficiency.pdf#:~:text=protein%20it%20cannot%20bind%20to,resultant%20decreased%20TfR%20protein%20production" TargetMode="External"/><Relationship Id="rId9" Type="http://schemas.openxmlformats.org/officeDocument/2006/relationships/hyperlink" Target="https://www.nature.com/articles/292267a0#:~:text=Metallothioneins%20are%20small%20cysteine,genes%20stems%20largely%20from%20the" TargetMode="External"/><Relationship Id="rId14" Type="http://schemas.openxmlformats.org/officeDocument/2006/relationships/hyperlink" Target="https://pmc.ncbi.nlm.nih.gov/articles/PMC4942874/#:~:text=Metallothionein%20expression%20is%20induced%20by,studies%20have%20sought%20to%20determine" TargetMode="External"/><Relationship Id="rId5" Type="http://schemas.openxmlformats.org/officeDocument/2006/relationships/hyperlink" Target="https://pmc.ncbi.nlm.nih.gov/articles/PMC2833082/#:~:text=amount%20of%20ferroportin%2C%20an%20iron,account%20when%20considering%20hepcidin%20therapeutics" TargetMode="External"/><Relationship Id="rId6" Type="http://schemas.openxmlformats.org/officeDocument/2006/relationships/hyperlink" Target="https://www.ncbi.nlm.nih.gov/gene/22784#:~:text=Enables%20zinc%20ion%20transmembrane%20transporter,in%20several%20structures%2C%20including%20brain" TargetMode="External"/><Relationship Id="rId7" Type="http://schemas.openxmlformats.org/officeDocument/2006/relationships/hyperlink" Target="http://medlineplus.gov/download/genetics/gene/slc30a10.pdf#:~:text=The%20SLC30A10%20gene%20provides%20instructions,be%20removed%20from%20the%20body" TargetMode="External"/><Relationship Id="rId8" Type="http://schemas.openxmlformats.org/officeDocument/2006/relationships/hyperlink" Target="https://medlineplus.gov/genetics/gene/slc39a14/#:~:text=The%20SLC39A14%20gene%20provides%20instructions,the%20removal%20of%20waste%20product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mc.ncbi.nlm.nih.gov/articles/PMC12410142/#:~:text=Recent%20advancements%20in%20Spatial%20Transcriptomics,with%20spatial%20information%20for%20clustering" TargetMode="External"/><Relationship Id="rId4" Type="http://schemas.openxmlformats.org/officeDocument/2006/relationships/hyperlink" Target="https://pmc.ncbi.nlm.nih.gov/articles/PMC12410142/#:~:text=collected%20spots%20are%20well%20distributed,deep%20generative%20spatial%20variational%20autoencoder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frontiersin.org/journals/pharmacology/articles/10.3389/fphar.2014.00191/full#:~:text=Synchrotron%20access%20is%20necessarily%20limited%2C,role%20in%20various%20neurodegenerative%20disease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457200" y="1097268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3600"/>
              <a:buFont typeface="Georgia"/>
              <a:buNone/>
            </a:pPr>
            <a:r>
              <a:rPr b="1" i="0" lang="en" sz="3600" u="none" cap="none" strike="noStrike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Predicting Metal Dysregulation in ALS</a:t>
            </a:r>
            <a:br>
              <a:rPr b="1" i="0" lang="en" sz="3600" u="none" cap="none" strike="noStrike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1" lang="en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Bridging gene expression and metal homeostasis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57200" y="30175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6555" y="1463032"/>
            <a:ext cx="1097277" cy="109727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601700" y="3182225"/>
            <a:ext cx="617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Yamini Chitikela, Roshith J</a:t>
            </a:r>
            <a:r>
              <a:rPr lang="en" sz="1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onnalagadda</a:t>
            </a:r>
            <a:endParaRPr sz="16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66666"/>
                </a:solidFill>
              </a:rPr>
              <a:t>                        </a:t>
            </a:r>
            <a:endParaRPr sz="28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2720475" y="3585925"/>
            <a:ext cx="3575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400"/>
              <a:buFont typeface="Calibri"/>
              <a:buNone/>
            </a:pPr>
            <a:r>
              <a:rPr b="0" i="0" lang="en" sz="1400" u="sng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cs.odu.edu/~cs_ychit001/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2889125" y="38418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Date: March 31, 2026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0"/>
            <a:ext cx="274320" cy="4823460"/>
          </a:xfrm>
          <a:prstGeom prst="rect">
            <a:avLst/>
          </a:prstGeom>
          <a:solidFill>
            <a:srgbClr val="4C7C4C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-36700" y="373075"/>
            <a:ext cx="2742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  lem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65760" y="509120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400"/>
              <a:buFont typeface="Georgia"/>
              <a:buNone/>
            </a:pPr>
            <a:r>
              <a:rPr b="1" lang="en" sz="2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Why predict metal dysregulation?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65760" y="100584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Amyotrophic lateral sclerosis (ALS) is a fatal neurodegenerative disease that destroys motor neurons. </a:t>
            </a:r>
            <a:r>
              <a:rPr b="1" lang="en" sz="1200">
                <a:solidFill>
                  <a:srgbClr val="4C7C4C"/>
                </a:solidFill>
                <a:latin typeface="Arial"/>
                <a:ea typeface="Arial"/>
                <a:cs typeface="Arial"/>
                <a:sym typeface="Arial"/>
              </a:rPr>
              <a:t>Median survival is only 3–5 years</a:t>
            </a: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and current treatments offer minimal benefit.</a:t>
            </a: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Studies reveal dysregulated metal homeostasis in ALS</a:t>
            </a:r>
            <a:r>
              <a:rPr lang="en" sz="1200">
                <a:solidFill>
                  <a:srgbClr val="333333"/>
                </a:solidFill>
              </a:rPr>
              <a:t> - </a:t>
            </a: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high ferritin, low transferrin and misfolded metal-binding proteins. Measuring metals directly requires expensive instruments (synchrotron XRF, LA-ICP-MS) and limited access.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7315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37495" y="4891987"/>
            <a:ext cx="822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700"/>
              <a:buFont typeface="Calibri"/>
              <a:buNone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[1]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[2]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[3]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Observations &amp; Hypothesis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65750" y="1188725"/>
            <a:ext cx="3748800" cy="2011800"/>
          </a:xfrm>
          <a:prstGeom prst="roundRect">
            <a:avLst>
              <a:gd fmla="val 2273" name="adj"/>
            </a:avLst>
          </a:prstGeom>
          <a:solidFill>
            <a:srgbClr val="F3F8F3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11475" y="1234450"/>
            <a:ext cx="37032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Observations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High ferritin &amp; low transferrin indicate iron overload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Mutations in Cu/Zn-SOD1 and DJ-1 disrupt metal binding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Manganese transporters (SLC30A10, SLC39A14) and ATP13A2 regulate Mn efflux/uptake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663500" y="1188725"/>
            <a:ext cx="3566100" cy="2011800"/>
          </a:xfrm>
          <a:prstGeom prst="roundRect">
            <a:avLst>
              <a:gd fmla="val 2273" name="adj"/>
            </a:avLst>
          </a:prstGeom>
          <a:solidFill>
            <a:srgbClr val="F8F0F8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663445" y="1234440"/>
            <a:ext cx="35661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Hypothesis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Expression of metal-binding genes reflects the intracellular metal environment.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By aggregating anchor gene expression, we can infer relative metal load from RNA-seq alone.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160475" y="2033493"/>
            <a:ext cx="4572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C7C4C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700"/>
              <a:buFont typeface="Calibri"/>
              <a:buNone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[4]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[5]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[6]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[7]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[8]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[9]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[10]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Dataset &amp; Preprocessing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314400" y="914398"/>
            <a:ext cx="50292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 leverage the NYGC ALS Consortium dataset (GSE153960) comprising </a:t>
            </a:r>
            <a:r>
              <a:rPr b="1" lang="en" sz="1200">
                <a:solidFill>
                  <a:srgbClr val="4C7C4C"/>
                </a:solidFill>
                <a:latin typeface="Arial"/>
                <a:ea typeface="Arial"/>
                <a:cs typeface="Arial"/>
                <a:sym typeface="Arial"/>
              </a:rPr>
              <a:t>462 samples</a:t>
            </a: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from ALS patients and controls. Samples span motor cortex, cervical, thoracic and lumbar spinal cord.</a:t>
            </a: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Preprocessing steps include: </a:t>
            </a: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(1) mapping Ensembl IDs to gene symbols; (2) normalization and quality control; (3) selecting highly variable genes; (4) constructing spatial graphs using k-nearest neighbours (k=6).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060" y="1165025"/>
            <a:ext cx="274318" cy="27432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6259100" y="1165025"/>
            <a:ext cx="100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C7C4C"/>
                </a:solidFill>
                <a:latin typeface="Arial"/>
                <a:ea typeface="Arial"/>
                <a:cs typeface="Arial"/>
                <a:sym typeface="Arial"/>
              </a:rPr>
              <a:t>Mapping IDs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6416563" y="1576491"/>
            <a:ext cx="183000" cy="274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C7C4C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060" y="1987985"/>
            <a:ext cx="274318" cy="27431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6259100" y="198797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C7C4C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6416563" y="2388015"/>
            <a:ext cx="183000" cy="274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C7C4C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060" y="2810945"/>
            <a:ext cx="274322" cy="27431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6259100" y="2810950"/>
            <a:ext cx="79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C7C4C"/>
                </a:solidFill>
                <a:latin typeface="Arial"/>
                <a:ea typeface="Arial"/>
                <a:cs typeface="Arial"/>
                <a:sym typeface="Arial"/>
              </a:rPr>
              <a:t>High-var genes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416575" y="3199531"/>
            <a:ext cx="1830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C7C4C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9060" y="3633905"/>
            <a:ext cx="27431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6259100" y="3633900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C7C4C"/>
                </a:solidFill>
                <a:latin typeface="Arial"/>
                <a:ea typeface="Arial"/>
                <a:cs typeface="Arial"/>
                <a:sym typeface="Arial"/>
              </a:rPr>
              <a:t>Graph build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700"/>
              <a:buFont typeface="Calibri"/>
              <a:buNone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[11]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365750" y="274325"/>
            <a:ext cx="5496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Anchor Genes &amp; Target Construction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365760" y="1005840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 selected anchor genes for each metal based on their roles in metal transport or storage.</a:t>
            </a: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Targets are computed as the mean expression of anchor genes and standardized per metal.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19"/>
          <p:cNvGraphicFramePr/>
          <p:nvPr/>
        </p:nvGraphicFramePr>
        <p:xfrm>
          <a:off x="36576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{8FE45DEF-56A7-477C-8B8F-634420A46B1A}</a:tableStyleId>
              </a:tblPr>
              <a:tblGrid>
                <a:gridCol w="1371600"/>
                <a:gridCol w="3931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Metal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7C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Anchor Genes (examples)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7C4C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C4C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4C7C4C"/>
                          </a:solidFill>
                        </a:rPr>
                        <a:t>Iron (Fe)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</a:rPr>
                        <a:t>FTH1, FTL, TFR1, HAMP, SLC40A1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3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C4C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4C7C4C"/>
                          </a:solidFill>
                        </a:rPr>
                        <a:t>Zinc (Zn)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</a:rPr>
                        <a:t>SLC30A3 (ZnT3), metallothioneins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C4C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4C7C4C"/>
                          </a:solidFill>
                        </a:rPr>
                        <a:t>Copper (Cu)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</a:rPr>
                        <a:t>ATP7A, ATP7B, ATOX1, CCS, ceruloplasmin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3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C4C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4C7C4C"/>
                          </a:solidFill>
                        </a:rPr>
                        <a:t>Manganese (Mn)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</a:rPr>
                        <a:t>SLC30A10, SLC39A14, ATP13A2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9"/>
          <p:cNvSpPr/>
          <p:nvPr/>
        </p:nvSpPr>
        <p:spPr>
          <a:xfrm>
            <a:off x="5943600" y="322850"/>
            <a:ext cx="2926200" cy="3962100"/>
          </a:xfrm>
          <a:prstGeom prst="roundRect">
            <a:avLst>
              <a:gd fmla="val 1724" name="adj"/>
            </a:avLst>
          </a:prstGeom>
          <a:solidFill>
            <a:srgbClr val="F0F5F9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5989325" y="447575"/>
            <a:ext cx="2743200" cy="3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Rationale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t/>
            </a:r>
            <a:endParaRPr b="1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Ferritin (FTH1/FTL) stores iron in cells.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TFR1 is up-regulated when iron is low, while hepcidin down-regulates ferroportin.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Zn transporters (ZnT3) import zinc into synaptic vesicles;</a:t>
            </a:r>
            <a:r>
              <a:rPr lang="en" sz="1200">
                <a:solidFill>
                  <a:srgbClr val="333333"/>
                </a:solidFill>
              </a:rPr>
              <a:t> </a:t>
            </a: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metallothioneins bind heavy metals.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ATP7A/ATP7B transport copper and deliver Cu to SOD1; DJ-1 protects against metal toxicity.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Mn efflux via SLC30A10 &amp; ATP13A2; Mn uptake via SLC39A14.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700"/>
              <a:buFont typeface="Calibri"/>
              <a:buNone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[12]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[13]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[14]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[15]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[16]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[17]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[18]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[19]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[20]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[21]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[22]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[23]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Graph Neural Network Approach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365750" y="704401"/>
            <a:ext cx="4389000" cy="26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Spatial transcriptomics creates a graph where each spot is a node and edges connect neighbouring spots (k=6).</a:t>
            </a: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Graph neural networks (GNNs) aggregate information from neighbouring nodes to learn local metal signatures and share context across tissue.</a:t>
            </a: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 compare linear regression, random forest and GNN models using cross-validation across anatomical regions.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6126480" y="1371600"/>
            <a:ext cx="914400" cy="457200"/>
          </a:xfrm>
          <a:prstGeom prst="straightConnector1">
            <a:avLst/>
          </a:prstGeom>
          <a:noFill/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20"/>
          <p:cNvCxnSpPr/>
          <p:nvPr/>
        </p:nvCxnSpPr>
        <p:spPr>
          <a:xfrm>
            <a:off x="7040880" y="18288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20"/>
          <p:cNvCxnSpPr/>
          <p:nvPr/>
        </p:nvCxnSpPr>
        <p:spPr>
          <a:xfrm flipH="1">
            <a:off x="6126480" y="2743200"/>
            <a:ext cx="914400" cy="457200"/>
          </a:xfrm>
          <a:prstGeom prst="straightConnector1">
            <a:avLst/>
          </a:prstGeom>
          <a:noFill/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20"/>
          <p:cNvCxnSpPr/>
          <p:nvPr/>
        </p:nvCxnSpPr>
        <p:spPr>
          <a:xfrm rot="10800000">
            <a:off x="6126480" y="22860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20"/>
          <p:cNvCxnSpPr/>
          <p:nvPr/>
        </p:nvCxnSpPr>
        <p:spPr>
          <a:xfrm rot="10800000">
            <a:off x="6126480" y="1371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0"/>
          <p:cNvCxnSpPr/>
          <p:nvPr/>
        </p:nvCxnSpPr>
        <p:spPr>
          <a:xfrm flipH="1">
            <a:off x="6126480" y="1828800"/>
            <a:ext cx="914400" cy="457200"/>
          </a:xfrm>
          <a:prstGeom prst="straightConnector1">
            <a:avLst/>
          </a:prstGeom>
          <a:noFill/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0"/>
          <p:cNvCxnSpPr/>
          <p:nvPr/>
        </p:nvCxnSpPr>
        <p:spPr>
          <a:xfrm>
            <a:off x="6126480" y="2286000"/>
            <a:ext cx="914400" cy="457200"/>
          </a:xfrm>
          <a:prstGeom prst="straightConnector1">
            <a:avLst/>
          </a:prstGeom>
          <a:noFill/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20"/>
          <p:cNvSpPr/>
          <p:nvPr/>
        </p:nvSpPr>
        <p:spPr>
          <a:xfrm>
            <a:off x="5943600" y="1188720"/>
            <a:ext cx="365760" cy="365760"/>
          </a:xfrm>
          <a:prstGeom prst="ellipse">
            <a:avLst/>
          </a:prstGeom>
          <a:solidFill>
            <a:srgbClr val="F3F8F3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6858000" y="164592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5943600" y="2103120"/>
            <a:ext cx="365760" cy="365760"/>
          </a:xfrm>
          <a:prstGeom prst="ellipse">
            <a:avLst/>
          </a:prstGeom>
          <a:solidFill>
            <a:srgbClr val="F3F8F3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6858000" y="256032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5943600" y="3017520"/>
            <a:ext cx="365760" cy="365760"/>
          </a:xfrm>
          <a:prstGeom prst="ellipse">
            <a:avLst/>
          </a:prstGeom>
          <a:solidFill>
            <a:srgbClr val="F3F8F3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6679695" y="914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C7C4C"/>
                </a:solidFill>
                <a:latin typeface="Arial"/>
                <a:ea typeface="Arial"/>
                <a:cs typeface="Arial"/>
                <a:sym typeface="Arial"/>
              </a:rPr>
              <a:t>Gene expression (features)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6858025" y="1325833"/>
            <a:ext cx="3657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C7C4C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7269950" y="118873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C7C4C"/>
                </a:solidFill>
                <a:latin typeface="Arial"/>
                <a:ea typeface="Arial"/>
                <a:cs typeface="Arial"/>
                <a:sym typeface="Arial"/>
              </a:rPr>
              <a:t>Metal prediction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700"/>
              <a:buFont typeface="Calibri"/>
              <a:buNone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[24]</a:t>
            </a:r>
            <a:r>
              <a:rPr lang="en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[25]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Performance &amp; Results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05840"/>
            <a:ext cx="502920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/>
          <p:nvPr/>
        </p:nvSpPr>
        <p:spPr>
          <a:xfrm>
            <a:off x="5669280" y="1005840"/>
            <a:ext cx="3017520" cy="2560320"/>
          </a:xfrm>
          <a:prstGeom prst="roundRect">
            <a:avLst>
              <a:gd fmla="val 1786" name="adj"/>
            </a:avLst>
          </a:prstGeom>
          <a:solidFill>
            <a:srgbClr val="F3F8F3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5715000" y="1051560"/>
            <a:ext cx="2926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Key Insights</a:t>
            </a: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Linear models already capture most variance due to the construction of targets.</a:t>
            </a: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Tree-based models (RF) slightly improve predictive performance by capturing interactions.</a:t>
            </a: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GNNs provide marginal gains but incorporate spatial context, which may enhance biological interpretability.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Novelty &amp; Contributions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365750" y="1097275"/>
            <a:ext cx="3840600" cy="2226600"/>
          </a:xfrm>
          <a:prstGeom prst="roundRect">
            <a:avLst>
              <a:gd fmla="val 2500" name="adj"/>
            </a:avLst>
          </a:prstGeom>
          <a:solidFill>
            <a:srgbClr val="F0F5F9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411475" y="1041900"/>
            <a:ext cx="37491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Novelty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First to infer metal dysregulation from transcriptomic data in ALS.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Anchor gene strategy links metal transport/storage proteins to gene expression.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Integrates spatial context via GNNs, capturing neighbourhood information.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4572000" y="1097275"/>
            <a:ext cx="3840600" cy="2226600"/>
          </a:xfrm>
          <a:prstGeom prst="roundRect">
            <a:avLst>
              <a:gd fmla="val 2500" name="adj"/>
            </a:avLst>
          </a:prstGeom>
          <a:solidFill>
            <a:srgbClr val="F3F8F3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4617725" y="1143000"/>
            <a:ext cx="37491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Contributions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Curated open ALS RNA-seq dataset with spatial annotations.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Developed a reproducible pipeline for deriving metal targets and training models.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Open-sourced code and interactive dashboards for exploration.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700"/>
              <a:buFont typeface="Calibri"/>
              <a:buNone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[26]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Discussion &amp; Limitations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365760" y="1097280"/>
            <a:ext cx="4114800" cy="2743200"/>
          </a:xfrm>
          <a:prstGeom prst="roundRect">
            <a:avLst>
              <a:gd fmla="val 1667" name="adj"/>
            </a:avLst>
          </a:prstGeom>
          <a:solidFill>
            <a:srgbClr val="F3F8F3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411480" y="1143000"/>
            <a:ext cx="4023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Targets derived from mean expression, so linear models dominate.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No ground-truth metal measurements to calibrate absolute concentrations.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Anchor genes may have overlapping roles across metals.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Dataset limited to ALS; generalisation to other disorders remains to be tested.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4754880" y="1097280"/>
            <a:ext cx="3657600" cy="2743200"/>
          </a:xfrm>
          <a:prstGeom prst="roundRect">
            <a:avLst>
              <a:gd fmla="val 1667" name="adj"/>
            </a:avLst>
          </a:prstGeom>
          <a:solidFill>
            <a:srgbClr val="F0F5F9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4800600" y="1143000"/>
            <a:ext cx="3566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Discussion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Despite simplicity, proxies capture known patterns of metal imbalance.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Spatial context may reveal localised dysregulation (e.g., hotspots around motor neurons).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Potential to integrate proteomics or imaging to refine models.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Conclusion &amp; Future Work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365760" y="1097280"/>
            <a:ext cx="4297680" cy="2743200"/>
          </a:xfrm>
          <a:prstGeom prst="roundRect">
            <a:avLst>
              <a:gd fmla="val 1667" name="adj"/>
            </a:avLst>
          </a:prstGeom>
          <a:solidFill>
            <a:srgbClr val="F3F8F3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411450" y="1143001"/>
            <a:ext cx="42063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Gene expression can serve as a proxy for relative metal load in ALS tissues.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Anchor gene sets capture biologically meaningful patterns of metal homeostasis.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GNNs offer a principled way to incorporate spatial context.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4937760" y="1097280"/>
            <a:ext cx="3474720" cy="2743200"/>
          </a:xfrm>
          <a:prstGeom prst="roundRect">
            <a:avLst>
              <a:gd fmla="val 1667" name="adj"/>
            </a:avLst>
          </a:prstGeom>
          <a:solidFill>
            <a:srgbClr val="F0F5F9"/>
          </a:solidFill>
          <a:ln cap="flat" cmpd="sng" w="12700">
            <a:solidFill>
              <a:srgbClr val="4C7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4983480" y="1050425"/>
            <a:ext cx="33834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b="1" sz="1400">
              <a:solidFill>
                <a:srgbClr val="4C7C4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b="1" lang="en" sz="1400">
                <a:solidFill>
                  <a:srgbClr val="4C7C4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Validate predictions with metal quantification (LA-ICP-MS, ICP-MS).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b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Expand analysis to other neurodegenerative diseases (e.g., Parkinson’s, Alzheimer’s).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t/>
            </a:r>
            <a:endParaRPr sz="120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C4C"/>
              </a:buClr>
              <a:buSzPts val="1400"/>
              <a:buFont typeface="Georgia"/>
              <a:buNone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Explore integrative models combining gene expression with proteomic and imaging modalities.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274320" y="489661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